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210" autoAdjust="0"/>
  </p:normalViewPr>
  <p:slideViewPr>
    <p:cSldViewPr snapToGrid="0">
      <p:cViewPr varScale="1">
        <p:scale>
          <a:sx n="36" d="100"/>
          <a:sy n="36" d="100"/>
        </p:scale>
        <p:origin x="9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95E52-4DD5-46B4-86CA-B052C8780F3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CEFFF-E6F6-406A-85FA-2E3678B1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main questions that this project will answer are:- Are higher customer ratings associated with specific ride characteristics?- Which variables show a correlation with customer satisfaction?</a:t>
            </a:r>
          </a:p>
          <a:p>
            <a:endParaRPr lang="en-US" dirty="0"/>
          </a:p>
          <a:p>
            <a:r>
              <a:rPr lang="en-US" dirty="0"/>
              <a:t>lot of numerical data., however, it was </a:t>
            </a:r>
            <a:r>
              <a:rPr lang="en-US"/>
              <a:t>all character, </a:t>
            </a:r>
            <a:r>
              <a:rPr lang="en-US" dirty="0"/>
              <a:t>so had to convert to numerical.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CEFFF-E6F6-406A-85FA-2E3678B11D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7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CEFFF-E6F6-406A-85FA-2E3678B11D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76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FFEC-D161-5A0A-99AB-7AFE75D7E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9EE83-3B5C-50B7-B3D1-7FF5D2588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73D98-742C-829D-FAD6-8F036A7E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09300-307C-2C5B-F2B3-15DFCBF1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5924A-8ACA-30D4-0787-AB05CFA8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99F4-2246-7872-A831-5CAE6B6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B1F2-E299-DAFC-C3C2-248E3C90A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4CF5-C05D-1993-B06B-A2825BDE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E3839-9DA2-8606-FF8E-F6D73DA4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8847D-FD93-9D02-2889-6697D4A1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8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5EFC-A218-59B0-D08B-4F4A73B2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F18BC-389C-B77A-F58D-89DD7E8F3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15542-DF4E-E663-B680-69D4DF0F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D54F-C16A-D296-88C5-01B85D54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EFA61-D90A-4D02-E45F-DA01AFA5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2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AE66-7D1E-515D-265A-1B744294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3E588-4EF1-33BE-5EEF-65AEC714D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A09DF-463C-C87E-B80E-0EEFDEAF3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11197-6066-5982-B062-94F5F2A3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9F24E-6A3F-9842-A215-506C1479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44704-52BD-0963-FE46-12ECDBBF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9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50B8-CAA3-209E-E933-0F3A49D9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F2B14-709C-E8E8-538E-26436505B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3EA4A-C452-C55C-965A-DBF1F81B4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3DEE9-0F91-6534-6D58-91411A874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075E5-9872-00D2-32B0-93739F2D7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63284-258E-20B6-EEF0-CF60D9EB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4E7402-D149-E465-B5BB-6F368843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D85B7-348B-99F0-B6E2-214A9C66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4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446C-852D-CC8E-DE13-B5195DB1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14656-B49B-64DA-4C9E-D80EF080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1EA70-BF41-A408-0E53-CDBE9970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D52B9-3333-AF3B-4BEF-5D1CD531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3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288D6-A6BE-DF3B-3A1F-11E6E37E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B0A0C-D66C-6EBA-D7A9-3FEF9649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62D50-F051-1B19-E471-A50C5623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4480-6B53-0CF7-9718-60E5F13F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0C04C-CACC-76A4-6A0C-45BD8A639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6728-786A-77AA-7B31-EA27F458F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A0875-2689-EC6A-14FE-59D3FB60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37C64-38CB-CC2E-5F4F-46E05131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52CC-EDDC-7CC3-E169-7CFE07C9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3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4412-6CD0-2DEF-9EAD-EB749892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A58D6-4648-103D-317D-E41F943E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86FB6-550E-04C5-AC28-15341A35E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727A5-77D5-7650-CED6-C1AEB2EC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5FF1F-8246-56A8-1AA1-70BC9EC7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6703A-C2D7-0B70-2ABE-70850F4B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4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4F30B-BB29-D7E1-31EB-C3E1E835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98F80-F37C-6618-5067-981996F0B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B15E-6FBE-B497-56C8-685152C5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C8F3D-BA79-CB67-40B6-72F95D91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0E2D7-1B0C-B302-B64A-C81D215E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8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94386-9908-E423-EEC2-95E3C29F1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8FBDD-EF73-A0B8-E849-85E7D72C7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5D607-1BF1-BD0E-D269-6F038AF7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48398-3B72-58B8-2E0C-6F74A130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5AB97-0ECD-CDF1-A479-7F4B0D7A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5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D408C-7624-8063-575B-5150C581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CE208-EAF5-B398-452E-6026A92C2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F6EA-5A33-5801-3359-F50BA8890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48A21-08BA-48A7-8ABC-4DA803FA294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F813-95CF-B2D7-134F-38677A537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D8A0E-4ACF-E440-3145-EAE2D8668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C092F-EE70-4039-A58D-2A6AA6678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1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9" name="Rectangle 2078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C6D54F7E-825A-4BBA-815F-35CCA8B9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8" name="Picture 10" descr="A metallic pink car with a powder blue interior'—Why involving children in  family decisions is important - LDS Living">
            <a:extLst>
              <a:ext uri="{FF2B5EF4-FFF2-40B4-BE49-F238E27FC236}">
                <a16:creationId xmlns:a16="http://schemas.microsoft.com/office/drawing/2014/main" id="{E58256C4-AF8A-01D6-5897-A4D750B49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4" b="7845"/>
          <a:stretch>
            <a:fillRect/>
          </a:stretch>
        </p:blipFill>
        <p:spPr bwMode="auto">
          <a:xfrm>
            <a:off x="1" y="1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42601">
                <a:moveTo>
                  <a:pt x="0" y="0"/>
                </a:moveTo>
                <a:lnTo>
                  <a:pt x="12191999" y="0"/>
                </a:lnTo>
                <a:lnTo>
                  <a:pt x="12191999" y="6842601"/>
                </a:lnTo>
                <a:lnTo>
                  <a:pt x="10316981" y="6842601"/>
                </a:lnTo>
                <a:cubicBezTo>
                  <a:pt x="10312796" y="6835189"/>
                  <a:pt x="10163183" y="6730124"/>
                  <a:pt x="10158998" y="6722712"/>
                </a:cubicBezTo>
                <a:cubicBezTo>
                  <a:pt x="10120278" y="6678190"/>
                  <a:pt x="10156462" y="6716223"/>
                  <a:pt x="10090349" y="6671420"/>
                </a:cubicBezTo>
                <a:cubicBezTo>
                  <a:pt x="10043032" y="6655694"/>
                  <a:pt x="9995855" y="6551879"/>
                  <a:pt x="9955425" y="6498018"/>
                </a:cubicBezTo>
                <a:cubicBezTo>
                  <a:pt x="9939618" y="6480021"/>
                  <a:pt x="9915110" y="6461677"/>
                  <a:pt x="9891265" y="6454528"/>
                </a:cubicBezTo>
                <a:cubicBezTo>
                  <a:pt x="9868239" y="6464957"/>
                  <a:pt x="9865423" y="6431640"/>
                  <a:pt x="9848227" y="6426063"/>
                </a:cubicBezTo>
                <a:cubicBezTo>
                  <a:pt x="9838059" y="6433162"/>
                  <a:pt x="9815047" y="6410348"/>
                  <a:pt x="9812354" y="6399604"/>
                </a:cubicBezTo>
                <a:cubicBezTo>
                  <a:pt x="9825285" y="6377997"/>
                  <a:pt x="9725923" y="6372757"/>
                  <a:pt x="9725915" y="6356381"/>
                </a:cubicBezTo>
                <a:cubicBezTo>
                  <a:pt x="9696279" y="6348066"/>
                  <a:pt x="9591199" y="6354143"/>
                  <a:pt x="9575033" y="6325258"/>
                </a:cubicBezTo>
                <a:cubicBezTo>
                  <a:pt x="9516434" y="6303128"/>
                  <a:pt x="9441613" y="6276805"/>
                  <a:pt x="9415626" y="6271777"/>
                </a:cubicBezTo>
                <a:cubicBezTo>
                  <a:pt x="9378293" y="6313495"/>
                  <a:pt x="9281935" y="6171365"/>
                  <a:pt x="9171493" y="6150430"/>
                </a:cubicBezTo>
                <a:cubicBezTo>
                  <a:pt x="9155426" y="6152396"/>
                  <a:pt x="9147439" y="6151015"/>
                  <a:pt x="9146018" y="6139864"/>
                </a:cubicBezTo>
                <a:cubicBezTo>
                  <a:pt x="9112029" y="6132441"/>
                  <a:pt x="9087339" y="6101138"/>
                  <a:pt x="9059635" y="6109957"/>
                </a:cubicBezTo>
                <a:cubicBezTo>
                  <a:pt x="9024424" y="6092144"/>
                  <a:pt x="9043048" y="6078417"/>
                  <a:pt x="9010911" y="6064789"/>
                </a:cubicBezTo>
                <a:lnTo>
                  <a:pt x="8866811" y="6028191"/>
                </a:lnTo>
                <a:cubicBezTo>
                  <a:pt x="8846465" y="6021172"/>
                  <a:pt x="8825221" y="6000527"/>
                  <a:pt x="8804584" y="5994237"/>
                </a:cubicBezTo>
                <a:lnTo>
                  <a:pt x="8783071" y="5990448"/>
                </a:lnTo>
                <a:lnTo>
                  <a:pt x="8770456" y="5978060"/>
                </a:lnTo>
                <a:cubicBezTo>
                  <a:pt x="8764772" y="5975259"/>
                  <a:pt x="8757695" y="5974720"/>
                  <a:pt x="8748297" y="5978070"/>
                </a:cubicBezTo>
                <a:cubicBezTo>
                  <a:pt x="8730344" y="5973495"/>
                  <a:pt x="8679808" y="5955894"/>
                  <a:pt x="8662742" y="5950603"/>
                </a:cubicBezTo>
                <a:lnTo>
                  <a:pt x="8645902" y="5946326"/>
                </a:lnTo>
                <a:lnTo>
                  <a:pt x="8638176" y="5938358"/>
                </a:lnTo>
                <a:cubicBezTo>
                  <a:pt x="8625897" y="5932642"/>
                  <a:pt x="8594811" y="5922073"/>
                  <a:pt x="8572224" y="5912032"/>
                </a:cubicBezTo>
                <a:cubicBezTo>
                  <a:pt x="8553809" y="5897782"/>
                  <a:pt x="8529845" y="5886100"/>
                  <a:pt x="8502655" y="5878114"/>
                </a:cubicBezTo>
                <a:cubicBezTo>
                  <a:pt x="8496990" y="5883034"/>
                  <a:pt x="8489611" y="5872566"/>
                  <a:pt x="8485159" y="5869819"/>
                </a:cubicBezTo>
                <a:cubicBezTo>
                  <a:pt x="8483457" y="5873482"/>
                  <a:pt x="8471232" y="5872664"/>
                  <a:pt x="8468539" y="5868711"/>
                </a:cubicBezTo>
                <a:cubicBezTo>
                  <a:pt x="8389167" y="5836352"/>
                  <a:pt x="8421742" y="5881497"/>
                  <a:pt x="8379810" y="5849376"/>
                </a:cubicBezTo>
                <a:cubicBezTo>
                  <a:pt x="8371729" y="5846373"/>
                  <a:pt x="8364483" y="5846766"/>
                  <a:pt x="8357758" y="5848601"/>
                </a:cubicBezTo>
                <a:lnTo>
                  <a:pt x="8315264" y="5836192"/>
                </a:lnTo>
                <a:cubicBezTo>
                  <a:pt x="8299077" y="5829531"/>
                  <a:pt x="8281671" y="5824011"/>
                  <a:pt x="8263455" y="5819793"/>
                </a:cubicBezTo>
                <a:cubicBezTo>
                  <a:pt x="8257386" y="5826849"/>
                  <a:pt x="8245582" y="5813448"/>
                  <a:pt x="8239287" y="5810141"/>
                </a:cubicBezTo>
                <a:cubicBezTo>
                  <a:pt x="8237965" y="5815186"/>
                  <a:pt x="8222226" y="5815108"/>
                  <a:pt x="8217888" y="5810039"/>
                </a:cubicBezTo>
                <a:cubicBezTo>
                  <a:pt x="8109447" y="5773303"/>
                  <a:pt x="8161302" y="5831037"/>
                  <a:pt x="8100547" y="5791517"/>
                </a:cubicBezTo>
                <a:cubicBezTo>
                  <a:pt x="8089574" y="5788167"/>
                  <a:pt x="8080448" y="5789295"/>
                  <a:pt x="8072316" y="5792309"/>
                </a:cubicBezTo>
                <a:lnTo>
                  <a:pt x="8056967" y="5800648"/>
                </a:lnTo>
                <a:lnTo>
                  <a:pt x="8047885" y="5795270"/>
                </a:lnTo>
                <a:cubicBezTo>
                  <a:pt x="8010204" y="5788738"/>
                  <a:pt x="7996426" y="5797608"/>
                  <a:pt x="7977128" y="5783189"/>
                </a:cubicBezTo>
                <a:cubicBezTo>
                  <a:pt x="7943466" y="5775577"/>
                  <a:pt x="7904823" y="5770953"/>
                  <a:pt x="7874392" y="5763715"/>
                </a:cubicBezTo>
                <a:cubicBezTo>
                  <a:pt x="7860337" y="5743777"/>
                  <a:pt x="7817541" y="5748989"/>
                  <a:pt x="7794543" y="5739759"/>
                </a:cubicBezTo>
                <a:cubicBezTo>
                  <a:pt x="7784688" y="5731467"/>
                  <a:pt x="7776709" y="5729004"/>
                  <a:pt x="7763762" y="5734031"/>
                </a:cubicBezTo>
                <a:cubicBezTo>
                  <a:pt x="7718781" y="5694154"/>
                  <a:pt x="7732231" y="5727368"/>
                  <a:pt x="7685889" y="5707234"/>
                </a:cubicBezTo>
                <a:cubicBezTo>
                  <a:pt x="7646521" y="5687607"/>
                  <a:pt x="7600389" y="5671470"/>
                  <a:pt x="7566744" y="5634586"/>
                </a:cubicBezTo>
                <a:cubicBezTo>
                  <a:pt x="7561306" y="5624813"/>
                  <a:pt x="7543589" y="5618525"/>
                  <a:pt x="7527170" y="5620542"/>
                </a:cubicBezTo>
                <a:cubicBezTo>
                  <a:pt x="7524343" y="5620889"/>
                  <a:pt x="7521664" y="5621475"/>
                  <a:pt x="7519214" y="5622280"/>
                </a:cubicBezTo>
                <a:cubicBezTo>
                  <a:pt x="7500062" y="5596964"/>
                  <a:pt x="7480476" y="5604337"/>
                  <a:pt x="7473157" y="5588143"/>
                </a:cubicBezTo>
                <a:cubicBezTo>
                  <a:pt x="7433415" y="5574859"/>
                  <a:pt x="7395118" y="5582388"/>
                  <a:pt x="7388000" y="5568063"/>
                </a:cubicBezTo>
                <a:cubicBezTo>
                  <a:pt x="7366403" y="5564920"/>
                  <a:pt x="7332262" y="5573848"/>
                  <a:pt x="7320876" y="5557698"/>
                </a:cubicBezTo>
                <a:cubicBezTo>
                  <a:pt x="7314891" y="5568111"/>
                  <a:pt x="7299319" y="5544964"/>
                  <a:pt x="7284480" y="5549820"/>
                </a:cubicBezTo>
                <a:cubicBezTo>
                  <a:pt x="7273570" y="5554430"/>
                  <a:pt x="7266301" y="5548483"/>
                  <a:pt x="7256619" y="5546379"/>
                </a:cubicBezTo>
                <a:cubicBezTo>
                  <a:pt x="7242503" y="5549088"/>
                  <a:pt x="7202543" y="5533379"/>
                  <a:pt x="7193112" y="5525289"/>
                </a:cubicBezTo>
                <a:cubicBezTo>
                  <a:pt x="7172259" y="5499151"/>
                  <a:pt x="7108617" y="5505485"/>
                  <a:pt x="7090943" y="5485177"/>
                </a:cubicBezTo>
                <a:cubicBezTo>
                  <a:pt x="7083637" y="5481419"/>
                  <a:pt x="7076140" y="5479148"/>
                  <a:pt x="7068566" y="5477809"/>
                </a:cubicBezTo>
                <a:lnTo>
                  <a:pt x="7023035" y="5476595"/>
                </a:lnTo>
                <a:lnTo>
                  <a:pt x="7001197" y="5476163"/>
                </a:lnTo>
                <a:cubicBezTo>
                  <a:pt x="7016126" y="5454256"/>
                  <a:pt x="6943549" y="5466815"/>
                  <a:pt x="6967472" y="5451057"/>
                </a:cubicBezTo>
                <a:cubicBezTo>
                  <a:pt x="6931240" y="5443544"/>
                  <a:pt x="6920843" y="5429649"/>
                  <a:pt x="6883334" y="5418880"/>
                </a:cubicBezTo>
                <a:lnTo>
                  <a:pt x="6742417" y="5386446"/>
                </a:lnTo>
                <a:cubicBezTo>
                  <a:pt x="6690532" y="5366095"/>
                  <a:pt x="6665174" y="5364632"/>
                  <a:pt x="6618315" y="5353085"/>
                </a:cubicBezTo>
                <a:cubicBezTo>
                  <a:pt x="6581698" y="5304210"/>
                  <a:pt x="6547395" y="5315779"/>
                  <a:pt x="6521050" y="5283194"/>
                </a:cubicBezTo>
                <a:cubicBezTo>
                  <a:pt x="6469114" y="5268862"/>
                  <a:pt x="6472597" y="5253957"/>
                  <a:pt x="6414460" y="5253832"/>
                </a:cubicBezTo>
                <a:lnTo>
                  <a:pt x="6362535" y="5220502"/>
                </a:lnTo>
                <a:cubicBezTo>
                  <a:pt x="6350866" y="5213881"/>
                  <a:pt x="6347641" y="5215777"/>
                  <a:pt x="6344443" y="5214103"/>
                </a:cubicBezTo>
                <a:lnTo>
                  <a:pt x="6343344" y="5210454"/>
                </a:lnTo>
                <a:lnTo>
                  <a:pt x="6333344" y="5205307"/>
                </a:lnTo>
                <a:lnTo>
                  <a:pt x="6315602" y="5193288"/>
                </a:lnTo>
                <a:lnTo>
                  <a:pt x="6310442" y="5192802"/>
                </a:lnTo>
                <a:lnTo>
                  <a:pt x="6280815" y="5177420"/>
                </a:lnTo>
                <a:lnTo>
                  <a:pt x="6279533" y="5178045"/>
                </a:lnTo>
                <a:cubicBezTo>
                  <a:pt x="6275980" y="5179097"/>
                  <a:pt x="6272084" y="5179212"/>
                  <a:pt x="6267362" y="5177370"/>
                </a:cubicBezTo>
                <a:cubicBezTo>
                  <a:pt x="6261796" y="5192470"/>
                  <a:pt x="6259530" y="5180933"/>
                  <a:pt x="6246095" y="5174167"/>
                </a:cubicBezTo>
                <a:lnTo>
                  <a:pt x="6155252" y="5161201"/>
                </a:lnTo>
                <a:lnTo>
                  <a:pt x="6148525" y="5158442"/>
                </a:lnTo>
                <a:lnTo>
                  <a:pt x="6148187" y="5158573"/>
                </a:lnTo>
                <a:cubicBezTo>
                  <a:pt x="6146292" y="5158370"/>
                  <a:pt x="6143916" y="5157611"/>
                  <a:pt x="6140686" y="5156032"/>
                </a:cubicBezTo>
                <a:lnTo>
                  <a:pt x="6136260" y="5153413"/>
                </a:lnTo>
                <a:lnTo>
                  <a:pt x="6123208" y="5148061"/>
                </a:lnTo>
                <a:lnTo>
                  <a:pt x="6117367" y="5147451"/>
                </a:lnTo>
                <a:lnTo>
                  <a:pt x="5957305" y="5146062"/>
                </a:lnTo>
                <a:cubicBezTo>
                  <a:pt x="5920540" y="5140405"/>
                  <a:pt x="5887096" y="5142015"/>
                  <a:pt x="5857259" y="5132052"/>
                </a:cubicBezTo>
                <a:cubicBezTo>
                  <a:pt x="5843335" y="5135303"/>
                  <a:pt x="5830921" y="5135493"/>
                  <a:pt x="5821375" y="5125606"/>
                </a:cubicBezTo>
                <a:cubicBezTo>
                  <a:pt x="5786501" y="5122615"/>
                  <a:pt x="5775399" y="5132648"/>
                  <a:pt x="5755916" y="5120171"/>
                </a:cubicBezTo>
                <a:cubicBezTo>
                  <a:pt x="5732132" y="5135438"/>
                  <a:pt x="5732735" y="5128211"/>
                  <a:pt x="5725007" y="5121437"/>
                </a:cubicBezTo>
                <a:lnTo>
                  <a:pt x="5723810" y="5120848"/>
                </a:lnTo>
                <a:lnTo>
                  <a:pt x="5720531" y="5123048"/>
                </a:lnTo>
                <a:lnTo>
                  <a:pt x="5714794" y="5123371"/>
                </a:lnTo>
                <a:lnTo>
                  <a:pt x="5700141" y="5120131"/>
                </a:lnTo>
                <a:lnTo>
                  <a:pt x="5694799" y="5118234"/>
                </a:lnTo>
                <a:cubicBezTo>
                  <a:pt x="5691058" y="5117179"/>
                  <a:pt x="5688491" y="5116804"/>
                  <a:pt x="5686627" y="5116903"/>
                </a:cubicBezTo>
                <a:lnTo>
                  <a:pt x="5686371" y="5117086"/>
                </a:lnTo>
                <a:lnTo>
                  <a:pt x="5678818" y="5115416"/>
                </a:lnTo>
                <a:cubicBezTo>
                  <a:pt x="5666199" y="5112102"/>
                  <a:pt x="5654035" y="5108410"/>
                  <a:pt x="5642547" y="5104511"/>
                </a:cubicBezTo>
                <a:cubicBezTo>
                  <a:pt x="5629444" y="5114945"/>
                  <a:pt x="5588783" y="5093343"/>
                  <a:pt x="5587979" y="5116963"/>
                </a:cubicBezTo>
                <a:cubicBezTo>
                  <a:pt x="5572317" y="5112380"/>
                  <a:pt x="5564904" y="5101292"/>
                  <a:pt x="5566635" y="5117158"/>
                </a:cubicBezTo>
                <a:cubicBezTo>
                  <a:pt x="5561375" y="5116079"/>
                  <a:pt x="5557787" y="5116811"/>
                  <a:pt x="5554952" y="5118417"/>
                </a:cubicBezTo>
                <a:lnTo>
                  <a:pt x="5554039" y="5119241"/>
                </a:lnTo>
                <a:lnTo>
                  <a:pt x="5514253" y="5109018"/>
                </a:lnTo>
                <a:lnTo>
                  <a:pt x="5492156" y="5099904"/>
                </a:lnTo>
                <a:lnTo>
                  <a:pt x="5480446" y="5096385"/>
                </a:lnTo>
                <a:lnTo>
                  <a:pt x="5477744" y="5092939"/>
                </a:lnTo>
                <a:cubicBezTo>
                  <a:pt x="5474490" y="5090581"/>
                  <a:pt x="5469391" y="5088951"/>
                  <a:pt x="5460150" y="5088988"/>
                </a:cubicBezTo>
                <a:lnTo>
                  <a:pt x="5457901" y="5089459"/>
                </a:lnTo>
                <a:lnTo>
                  <a:pt x="5444243" y="5082761"/>
                </a:lnTo>
                <a:cubicBezTo>
                  <a:pt x="5439993" y="5080007"/>
                  <a:pt x="5436418" y="5076805"/>
                  <a:pt x="5433825" y="5072992"/>
                </a:cubicBezTo>
                <a:cubicBezTo>
                  <a:pt x="5379442" y="5082090"/>
                  <a:pt x="5336110" y="5058382"/>
                  <a:pt x="5280996" y="5052402"/>
                </a:cubicBezTo>
                <a:cubicBezTo>
                  <a:pt x="5250806" y="5043777"/>
                  <a:pt x="5168599" y="5048109"/>
                  <a:pt x="5161582" y="5019668"/>
                </a:cubicBezTo>
                <a:cubicBezTo>
                  <a:pt x="5121870" y="5011383"/>
                  <a:pt x="5095637" y="5009222"/>
                  <a:pt x="5042717" y="5002692"/>
                </a:cubicBezTo>
                <a:cubicBezTo>
                  <a:pt x="4991136" y="4972487"/>
                  <a:pt x="4902282" y="4979360"/>
                  <a:pt x="4840514" y="4959306"/>
                </a:cubicBezTo>
                <a:cubicBezTo>
                  <a:pt x="4799904" y="4976415"/>
                  <a:pt x="4824087" y="4958371"/>
                  <a:pt x="4786778" y="4956661"/>
                </a:cubicBezTo>
                <a:cubicBezTo>
                  <a:pt x="4801901" y="4937231"/>
                  <a:pt x="4739845" y="4961208"/>
                  <a:pt x="4743741" y="4937104"/>
                </a:cubicBezTo>
                <a:cubicBezTo>
                  <a:pt x="4736829" y="4937557"/>
                  <a:pt x="4730010" y="4938753"/>
                  <a:pt x="4723136" y="4940138"/>
                </a:cubicBezTo>
                <a:lnTo>
                  <a:pt x="4719535" y="4940850"/>
                </a:lnTo>
                <a:lnTo>
                  <a:pt x="4706143" y="4939586"/>
                </a:lnTo>
                <a:lnTo>
                  <a:pt x="4701098" y="4944372"/>
                </a:lnTo>
                <a:lnTo>
                  <a:pt x="4680034" y="4946157"/>
                </a:lnTo>
                <a:cubicBezTo>
                  <a:pt x="4672339" y="4946029"/>
                  <a:pt x="4664292" y="4944964"/>
                  <a:pt x="4655740" y="4942396"/>
                </a:cubicBezTo>
                <a:cubicBezTo>
                  <a:pt x="4636359" y="4929384"/>
                  <a:pt x="4599700" y="4935346"/>
                  <a:pt x="4569298" y="4929596"/>
                </a:cubicBezTo>
                <a:lnTo>
                  <a:pt x="4555977" y="4924356"/>
                </a:lnTo>
                <a:lnTo>
                  <a:pt x="4508949" y="4921648"/>
                </a:lnTo>
                <a:cubicBezTo>
                  <a:pt x="4495668" y="4920437"/>
                  <a:pt x="4482007" y="4918694"/>
                  <a:pt x="4467838" y="4915993"/>
                </a:cubicBezTo>
                <a:lnTo>
                  <a:pt x="4441948" y="4909300"/>
                </a:lnTo>
                <a:lnTo>
                  <a:pt x="4394719" y="4901820"/>
                </a:lnTo>
                <a:lnTo>
                  <a:pt x="4356810" y="4905146"/>
                </a:lnTo>
                <a:lnTo>
                  <a:pt x="4222144" y="4909117"/>
                </a:lnTo>
                <a:cubicBezTo>
                  <a:pt x="4202488" y="4913903"/>
                  <a:pt x="4184742" y="4933491"/>
                  <a:pt x="4160481" y="4923474"/>
                </a:cubicBezTo>
                <a:cubicBezTo>
                  <a:pt x="4165854" y="4934564"/>
                  <a:pt x="4131661" y="4919946"/>
                  <a:pt x="4124879" y="4929303"/>
                </a:cubicBezTo>
                <a:cubicBezTo>
                  <a:pt x="4120895" y="4937086"/>
                  <a:pt x="4109593" y="4934464"/>
                  <a:pt x="4100114" y="4936007"/>
                </a:cubicBezTo>
                <a:cubicBezTo>
                  <a:pt x="4091835" y="4943256"/>
                  <a:pt x="4045978" y="4943549"/>
                  <a:pt x="4030957" y="4939826"/>
                </a:cubicBezTo>
                <a:cubicBezTo>
                  <a:pt x="3989825" y="4924453"/>
                  <a:pt x="3946860" y="4952050"/>
                  <a:pt x="3913764" y="4940618"/>
                </a:cubicBezTo>
                <a:cubicBezTo>
                  <a:pt x="3904534" y="4939906"/>
                  <a:pt x="3896577" y="4940543"/>
                  <a:pt x="3889457" y="4942017"/>
                </a:cubicBezTo>
                <a:lnTo>
                  <a:pt x="3871115" y="4948115"/>
                </a:lnTo>
                <a:lnTo>
                  <a:pt x="3869086" y="4953796"/>
                </a:lnTo>
                <a:lnTo>
                  <a:pt x="3856124" y="4955351"/>
                </a:lnTo>
                <a:lnTo>
                  <a:pt x="3835967" y="4964002"/>
                </a:lnTo>
                <a:cubicBezTo>
                  <a:pt x="3826465" y="4939857"/>
                  <a:pt x="3782586" y="4975947"/>
                  <a:pt x="3785910" y="4953998"/>
                </a:cubicBezTo>
                <a:cubicBezTo>
                  <a:pt x="3750785" y="4960085"/>
                  <a:pt x="3699033" y="4941571"/>
                  <a:pt x="3671085" y="4966563"/>
                </a:cubicBezTo>
                <a:cubicBezTo>
                  <a:pt x="3621255" y="4971431"/>
                  <a:pt x="3562637" y="4982991"/>
                  <a:pt x="3486928" y="4983204"/>
                </a:cubicBezTo>
                <a:cubicBezTo>
                  <a:pt x="3446030" y="4983424"/>
                  <a:pt x="3343460" y="4965124"/>
                  <a:pt x="3280956" y="4963864"/>
                </a:cubicBezTo>
                <a:cubicBezTo>
                  <a:pt x="3227193" y="4969510"/>
                  <a:pt x="3256481" y="4962609"/>
                  <a:pt x="3211563" y="4982704"/>
                </a:cubicBezTo>
                <a:cubicBezTo>
                  <a:pt x="3207119" y="4979549"/>
                  <a:pt x="3170070" y="4977192"/>
                  <a:pt x="3164681" y="4975408"/>
                </a:cubicBezTo>
                <a:lnTo>
                  <a:pt x="3127171" y="4968229"/>
                </a:lnTo>
                <a:lnTo>
                  <a:pt x="3096889" y="4965619"/>
                </a:lnTo>
                <a:cubicBezTo>
                  <a:pt x="3088441" y="4967572"/>
                  <a:pt x="3082883" y="4967054"/>
                  <a:pt x="3078620" y="4965444"/>
                </a:cubicBezTo>
                <a:lnTo>
                  <a:pt x="3074275" y="4962670"/>
                </a:lnTo>
                <a:lnTo>
                  <a:pt x="3036436" y="4957455"/>
                </a:lnTo>
                <a:lnTo>
                  <a:pt x="3031995" y="4958829"/>
                </a:lnTo>
                <a:lnTo>
                  <a:pt x="2994028" y="4956800"/>
                </a:lnTo>
                <a:cubicBezTo>
                  <a:pt x="2992299" y="4958944"/>
                  <a:pt x="2989407" y="4960397"/>
                  <a:pt x="2984001" y="4960444"/>
                </a:cubicBezTo>
                <a:cubicBezTo>
                  <a:pt x="2994191" y="4975446"/>
                  <a:pt x="2981386" y="4966249"/>
                  <a:pt x="2964542" y="4965062"/>
                </a:cubicBezTo>
                <a:cubicBezTo>
                  <a:pt x="2976613" y="4988096"/>
                  <a:pt x="2927627" y="4975618"/>
                  <a:pt x="2921274" y="4988440"/>
                </a:cubicBezTo>
                <a:cubicBezTo>
                  <a:pt x="2908629" y="4987050"/>
                  <a:pt x="2895476" y="4985998"/>
                  <a:pt x="2882111" y="4985411"/>
                </a:cubicBezTo>
                <a:lnTo>
                  <a:pt x="2874282" y="4985361"/>
                </a:lnTo>
                <a:cubicBezTo>
                  <a:pt x="2874237" y="4985437"/>
                  <a:pt x="2874193" y="4985514"/>
                  <a:pt x="2874147" y="4985591"/>
                </a:cubicBezTo>
                <a:cubicBezTo>
                  <a:pt x="2872492" y="4986074"/>
                  <a:pt x="2869935" y="4986243"/>
                  <a:pt x="2865932" y="4985999"/>
                </a:cubicBezTo>
                <a:lnTo>
                  <a:pt x="2860008" y="4985269"/>
                </a:lnTo>
                <a:lnTo>
                  <a:pt x="2844819" y="4985172"/>
                </a:lnTo>
                <a:lnTo>
                  <a:pt x="2839735" y="4986676"/>
                </a:lnTo>
                <a:lnTo>
                  <a:pt x="2837922" y="4989488"/>
                </a:lnTo>
                <a:lnTo>
                  <a:pt x="2836507" y="4989165"/>
                </a:lnTo>
                <a:cubicBezTo>
                  <a:pt x="2825749" y="4984209"/>
                  <a:pt x="2822382" y="4977089"/>
                  <a:pt x="2808859" y="4996804"/>
                </a:cubicBezTo>
                <a:cubicBezTo>
                  <a:pt x="2784233" y="4988767"/>
                  <a:pt x="2779499" y="5000786"/>
                  <a:pt x="2745907" y="5005126"/>
                </a:cubicBezTo>
                <a:cubicBezTo>
                  <a:pt x="2731796" y="4997536"/>
                  <a:pt x="2720518" y="5000295"/>
                  <a:pt x="2709519" y="5006333"/>
                </a:cubicBezTo>
                <a:cubicBezTo>
                  <a:pt x="2676766" y="5002878"/>
                  <a:pt x="2646981" y="5011377"/>
                  <a:pt x="2610212" y="5013529"/>
                </a:cubicBezTo>
                <a:cubicBezTo>
                  <a:pt x="2570359" y="5003730"/>
                  <a:pt x="2550109" y="5021491"/>
                  <a:pt x="2510814" y="5023713"/>
                </a:cubicBezTo>
                <a:cubicBezTo>
                  <a:pt x="2476639" y="5006722"/>
                  <a:pt x="2482834" y="5038639"/>
                  <a:pt x="2462736" y="5045398"/>
                </a:cubicBezTo>
                <a:lnTo>
                  <a:pt x="2457050" y="5046022"/>
                </a:lnTo>
                <a:lnTo>
                  <a:pt x="2442184" y="5043549"/>
                </a:lnTo>
                <a:lnTo>
                  <a:pt x="2436703" y="5041929"/>
                </a:lnTo>
                <a:cubicBezTo>
                  <a:pt x="2432888" y="5041072"/>
                  <a:pt x="2430299" y="5040830"/>
                  <a:pt x="2428451" y="5041027"/>
                </a:cubicBezTo>
                <a:lnTo>
                  <a:pt x="2420551" y="5039949"/>
                </a:lnTo>
                <a:cubicBezTo>
                  <a:pt x="2407700" y="5037296"/>
                  <a:pt x="2395274" y="5034239"/>
                  <a:pt x="2383501" y="5030941"/>
                </a:cubicBezTo>
                <a:cubicBezTo>
                  <a:pt x="2362992" y="5032521"/>
                  <a:pt x="2317884" y="5047662"/>
                  <a:pt x="2297493" y="5049431"/>
                </a:cubicBezTo>
                <a:lnTo>
                  <a:pt x="2261156" y="5041558"/>
                </a:lnTo>
                <a:lnTo>
                  <a:pt x="2200581" y="5024964"/>
                </a:lnTo>
                <a:lnTo>
                  <a:pt x="2198380" y="5025550"/>
                </a:lnTo>
                <a:lnTo>
                  <a:pt x="2116066" y="5019568"/>
                </a:lnTo>
                <a:cubicBezTo>
                  <a:pt x="2111600" y="5017036"/>
                  <a:pt x="2059664" y="5006071"/>
                  <a:pt x="2056754" y="5002394"/>
                </a:cubicBezTo>
                <a:cubicBezTo>
                  <a:pt x="2003393" y="5014336"/>
                  <a:pt x="1998298" y="5008800"/>
                  <a:pt x="1942916" y="5005703"/>
                </a:cubicBezTo>
                <a:cubicBezTo>
                  <a:pt x="1882138" y="4994708"/>
                  <a:pt x="1836966" y="4976630"/>
                  <a:pt x="1796717" y="4970423"/>
                </a:cubicBezTo>
                <a:cubicBezTo>
                  <a:pt x="1724075" y="4959337"/>
                  <a:pt x="1636218" y="4936339"/>
                  <a:pt x="1583222" y="4931235"/>
                </a:cubicBezTo>
                <a:cubicBezTo>
                  <a:pt x="1544265" y="4950469"/>
                  <a:pt x="1556109" y="4927628"/>
                  <a:pt x="1518821" y="4927872"/>
                </a:cubicBezTo>
                <a:cubicBezTo>
                  <a:pt x="1497291" y="4925112"/>
                  <a:pt x="1483221" y="4916728"/>
                  <a:pt x="1471837" y="4914678"/>
                </a:cubicBezTo>
                <a:lnTo>
                  <a:pt x="1450515" y="4915578"/>
                </a:lnTo>
                <a:lnTo>
                  <a:pt x="1437078" y="4915016"/>
                </a:lnTo>
                <a:lnTo>
                  <a:pt x="1432462" y="4920065"/>
                </a:lnTo>
                <a:lnTo>
                  <a:pt x="1411645" y="4922952"/>
                </a:lnTo>
                <a:cubicBezTo>
                  <a:pt x="1384856" y="4920079"/>
                  <a:pt x="1306656" y="4907389"/>
                  <a:pt x="1271729" y="4902828"/>
                </a:cubicBezTo>
                <a:cubicBezTo>
                  <a:pt x="1258697" y="4896954"/>
                  <a:pt x="1213546" y="4890036"/>
                  <a:pt x="1202076" y="4895589"/>
                </a:cubicBezTo>
                <a:cubicBezTo>
                  <a:pt x="1192059" y="4895561"/>
                  <a:pt x="1182171" y="4891311"/>
                  <a:pt x="1174670" y="4898040"/>
                </a:cubicBezTo>
                <a:cubicBezTo>
                  <a:pt x="1163701" y="4905820"/>
                  <a:pt x="1136874" y="4886643"/>
                  <a:pt x="1137035" y="4897965"/>
                </a:cubicBezTo>
                <a:cubicBezTo>
                  <a:pt x="1117838" y="4884693"/>
                  <a:pt x="1091386" y="4900421"/>
                  <a:pt x="1069882" y="4901859"/>
                </a:cubicBezTo>
                <a:cubicBezTo>
                  <a:pt x="1055589" y="4889467"/>
                  <a:pt x="1024570" y="4904705"/>
                  <a:pt x="980935" y="4900090"/>
                </a:cubicBezTo>
                <a:cubicBezTo>
                  <a:pt x="947614" y="4895538"/>
                  <a:pt x="913224" y="4886405"/>
                  <a:pt x="869960" y="4874547"/>
                </a:cubicBezTo>
                <a:cubicBezTo>
                  <a:pt x="819114" y="4845820"/>
                  <a:pt x="768074" y="4839770"/>
                  <a:pt x="721345" y="4828937"/>
                </a:cubicBezTo>
                <a:cubicBezTo>
                  <a:pt x="667944" y="4819060"/>
                  <a:pt x="698286" y="4848426"/>
                  <a:pt x="635428" y="4819153"/>
                </a:cubicBezTo>
                <a:cubicBezTo>
                  <a:pt x="626286" y="4826707"/>
                  <a:pt x="617638" y="4825980"/>
                  <a:pt x="604106" y="4819994"/>
                </a:cubicBezTo>
                <a:cubicBezTo>
                  <a:pt x="583276" y="4822237"/>
                  <a:pt x="539859" y="4835097"/>
                  <a:pt x="510451" y="4832608"/>
                </a:cubicBezTo>
                <a:cubicBezTo>
                  <a:pt x="489781" y="4829929"/>
                  <a:pt x="443867" y="4807857"/>
                  <a:pt x="427656" y="4805062"/>
                </a:cubicBezTo>
                <a:cubicBezTo>
                  <a:pt x="424088" y="4806479"/>
                  <a:pt x="419580" y="4809736"/>
                  <a:pt x="413184" y="4815837"/>
                </a:cubicBezTo>
                <a:cubicBezTo>
                  <a:pt x="387673" y="4805882"/>
                  <a:pt x="379855" y="4817328"/>
                  <a:pt x="341772" y="4818825"/>
                </a:cubicBezTo>
                <a:cubicBezTo>
                  <a:pt x="327795" y="4810179"/>
                  <a:pt x="314729" y="4811964"/>
                  <a:pt x="301266" y="4817000"/>
                </a:cubicBezTo>
                <a:cubicBezTo>
                  <a:pt x="265781" y="4810886"/>
                  <a:pt x="231017" y="4816794"/>
                  <a:pt x="189886" y="4815871"/>
                </a:cubicBezTo>
                <a:cubicBezTo>
                  <a:pt x="147910" y="4802917"/>
                  <a:pt x="121702" y="4818738"/>
                  <a:pt x="77762" y="4817675"/>
                </a:cubicBezTo>
                <a:cubicBezTo>
                  <a:pt x="38733" y="4795315"/>
                  <a:pt x="44308" y="4840244"/>
                  <a:pt x="8164" y="4835320"/>
                </a:cubicBezTo>
                <a:lnTo>
                  <a:pt x="0" y="483277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CF4DCD-0F7A-0DAD-172D-8FBCA0F3C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61" y="5729674"/>
            <a:ext cx="6525376" cy="752217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Riding with Uber: Is There a Road to a Five Star Rating?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7F44AD5-803C-A554-6500-CF6D1E481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652" y="6392788"/>
            <a:ext cx="6931319" cy="349725"/>
          </a:xfrm>
        </p:spPr>
        <p:txBody>
          <a:bodyPr anchor="t">
            <a:normAutofit/>
          </a:bodyPr>
          <a:lstStyle/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Charlize Gutierrez-Lopez</a:t>
            </a:r>
          </a:p>
        </p:txBody>
      </p:sp>
      <p:sp>
        <p:nvSpPr>
          <p:cNvPr id="7" name="AutoShape 8" descr="Pink vintage cars parked in city on sunny day stock photo">
            <a:extLst>
              <a:ext uri="{FF2B5EF4-FFF2-40B4-BE49-F238E27FC236}">
                <a16:creationId xmlns:a16="http://schemas.microsoft.com/office/drawing/2014/main" id="{49D7F8CA-46ED-D047-0D15-33EF7F8CEF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7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BF55-536E-C99C-3586-B779CE7A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91187-FF51-CB84-75D0-53352FA7DD73}"/>
              </a:ext>
            </a:extLst>
          </p:cNvPr>
          <p:cNvSpPr txBox="1"/>
          <p:nvPr/>
        </p:nvSpPr>
        <p:spPr>
          <a:xfrm>
            <a:off x="838198" y="3900640"/>
            <a:ext cx="48727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NAs due to Incomplete Rides,  which led to NAs for Customer Rating.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C0961-E4F0-2A7A-3289-57A9E86A0088}"/>
              </a:ext>
            </a:extLst>
          </p:cNvPr>
          <p:cNvSpPr txBox="1"/>
          <p:nvPr/>
        </p:nvSpPr>
        <p:spPr>
          <a:xfrm>
            <a:off x="838198" y="2756022"/>
            <a:ext cx="45399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Many variables, dropped the irrelevant ones.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7421C-7C71-2AA4-10FA-47B154F152BA}"/>
              </a:ext>
            </a:extLst>
          </p:cNvPr>
          <p:cNvSpPr txBox="1"/>
          <p:nvPr/>
        </p:nvSpPr>
        <p:spPr>
          <a:xfrm>
            <a:off x="838198" y="1671109"/>
            <a:ext cx="45399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Original Dimensions: 150000 rows by 21 columns.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F9CE0D-2209-25DF-19BD-C27D7B627285}"/>
              </a:ext>
            </a:extLst>
          </p:cNvPr>
          <p:cNvSpPr txBox="1"/>
          <p:nvPr/>
        </p:nvSpPr>
        <p:spPr>
          <a:xfrm>
            <a:off x="838198" y="5476147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57,000 rows were dropped.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CADA1CA-64B9-8D2E-43FB-6B9ECB999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86967"/>
              </p:ext>
            </p:extLst>
          </p:nvPr>
        </p:nvGraphicFramePr>
        <p:xfrm>
          <a:off x="7375446" y="1590226"/>
          <a:ext cx="3678378" cy="3986384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3678378">
                  <a:extLst>
                    <a:ext uri="{9D8B030D-6E8A-4147-A177-3AD203B41FA5}">
                      <a16:colId xmlns:a16="http://schemas.microsoft.com/office/drawing/2014/main" val="3964966004"/>
                    </a:ext>
                  </a:extLst>
                </a:gridCol>
              </a:tblGrid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Variables of Interest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662229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094751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226907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Vehicle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146733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Average Vehicle Time at Arrival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78835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Booking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88442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Ride 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011546"/>
                  </a:ext>
                </a:extLst>
              </a:tr>
              <a:tr h="4982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Customer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5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14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5F45-D392-8742-4507-6727F04F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Interesting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91A8-4A5B-F87C-C4C8-19E08E2B2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865" y="4188816"/>
            <a:ext cx="11417135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Findings: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Mean customer rating is high.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Extremely high booking value of 4277.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Everything else is very standard and seems evenly distributed.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F9559-06EA-B1C3-0AC1-A98710375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28" y="1470752"/>
            <a:ext cx="5705541" cy="30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7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Rectangle 1060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4">
            <a:extLst>
              <a:ext uri="{FF2B5EF4-FFF2-40B4-BE49-F238E27FC236}">
                <a16:creationId xmlns:a16="http://schemas.microsoft.com/office/drawing/2014/main" id="{63A321A6-A1D3-DB90-6C40-B79187A68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549" y="916037"/>
            <a:ext cx="3122143" cy="193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Rectangle 1064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CAE544EF-F703-ED16-589C-E5E2EC3AC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1676" y="879126"/>
            <a:ext cx="3252903" cy="201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Rectangle 1066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26">
            <a:extLst>
              <a:ext uri="{FF2B5EF4-FFF2-40B4-BE49-F238E27FC236}">
                <a16:creationId xmlns:a16="http://schemas.microsoft.com/office/drawing/2014/main" id="{D320665A-626B-F521-CD0A-2B7131974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3518" y="879126"/>
            <a:ext cx="3252903" cy="201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Rectangle 1068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8">
            <a:extLst>
              <a:ext uri="{FF2B5EF4-FFF2-40B4-BE49-F238E27FC236}">
                <a16:creationId xmlns:a16="http://schemas.microsoft.com/office/drawing/2014/main" id="{0BA4F4AA-CD28-8F43-7E0F-1D33B537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549" y="4024071"/>
            <a:ext cx="3104943" cy="191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Rectangle 1070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7F9FE375-3674-4B26-B67B-30AFAF78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361070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30">
            <a:extLst>
              <a:ext uri="{FF2B5EF4-FFF2-40B4-BE49-F238E27FC236}">
                <a16:creationId xmlns:a16="http://schemas.microsoft.com/office/drawing/2014/main" id="{37546EB1-CD8C-5A53-5309-5331A44B5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05433" y="4027259"/>
            <a:ext cx="3217333" cy="198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>
            <a:extLst>
              <a:ext uri="{FF2B5EF4-FFF2-40B4-BE49-F238E27FC236}">
                <a16:creationId xmlns:a16="http://schemas.microsoft.com/office/drawing/2014/main" id="{A7E6F8FD-A3C8-B6D0-A03E-896C903A8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3518" y="3981842"/>
            <a:ext cx="3252903" cy="201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9A1466A-D4B7-96A3-E55E-468A5D92B70B}"/>
              </a:ext>
            </a:extLst>
          </p:cNvPr>
          <p:cNvSpPr/>
          <p:nvPr/>
        </p:nvSpPr>
        <p:spPr>
          <a:xfrm>
            <a:off x="3800529" y="0"/>
            <a:ext cx="464798" cy="6858000"/>
          </a:xfrm>
          <a:prstGeom prst="rect">
            <a:avLst/>
          </a:prstGeom>
          <a:solidFill>
            <a:srgbClr val="FFDDFC"/>
          </a:solidFill>
          <a:ln>
            <a:solidFill>
              <a:srgbClr val="FFD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244A47-361F-F5CD-2FA6-34D5E775E3C0}"/>
              </a:ext>
            </a:extLst>
          </p:cNvPr>
          <p:cNvSpPr/>
          <p:nvPr/>
        </p:nvSpPr>
        <p:spPr>
          <a:xfrm>
            <a:off x="7813789" y="0"/>
            <a:ext cx="464798" cy="6858000"/>
          </a:xfrm>
          <a:prstGeom prst="rect">
            <a:avLst/>
          </a:prstGeom>
          <a:solidFill>
            <a:srgbClr val="FFDDFC"/>
          </a:solidFill>
          <a:ln>
            <a:solidFill>
              <a:srgbClr val="FFD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D1C904-C61C-F508-1442-DDD6B9FF5DA1}"/>
              </a:ext>
            </a:extLst>
          </p:cNvPr>
          <p:cNvSpPr/>
          <p:nvPr/>
        </p:nvSpPr>
        <p:spPr>
          <a:xfrm rot="16200000">
            <a:off x="5885208" y="-2724011"/>
            <a:ext cx="421584" cy="12247838"/>
          </a:xfrm>
          <a:prstGeom prst="rect">
            <a:avLst/>
          </a:prstGeom>
          <a:solidFill>
            <a:srgbClr val="FFDDFC"/>
          </a:solidFill>
          <a:ln>
            <a:solidFill>
              <a:srgbClr val="FFD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4ED867-4D56-A9DD-710A-62268AE5E924}"/>
              </a:ext>
            </a:extLst>
          </p:cNvPr>
          <p:cNvSpPr/>
          <p:nvPr/>
        </p:nvSpPr>
        <p:spPr>
          <a:xfrm rot="16200000">
            <a:off x="5892113" y="502275"/>
            <a:ext cx="463611" cy="12247838"/>
          </a:xfrm>
          <a:prstGeom prst="rect">
            <a:avLst/>
          </a:prstGeom>
          <a:solidFill>
            <a:srgbClr val="FFDDFC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F611F7-15AB-4A26-FFB5-665EEEDA336B}"/>
              </a:ext>
            </a:extLst>
          </p:cNvPr>
          <p:cNvSpPr/>
          <p:nvPr/>
        </p:nvSpPr>
        <p:spPr>
          <a:xfrm rot="16200000">
            <a:off x="5879613" y="-5879613"/>
            <a:ext cx="488611" cy="12247838"/>
          </a:xfrm>
          <a:prstGeom prst="rect">
            <a:avLst/>
          </a:prstGeom>
          <a:solidFill>
            <a:srgbClr val="FFDDFC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86644A-B402-C5FF-5B90-0B18E4FC28A0}"/>
              </a:ext>
            </a:extLst>
          </p:cNvPr>
          <p:cNvSpPr/>
          <p:nvPr/>
        </p:nvSpPr>
        <p:spPr>
          <a:xfrm>
            <a:off x="0" y="0"/>
            <a:ext cx="464798" cy="6858000"/>
          </a:xfrm>
          <a:prstGeom prst="rect">
            <a:avLst/>
          </a:prstGeom>
          <a:solidFill>
            <a:srgbClr val="FFDDFC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61545-FED8-79EC-022E-8457D6BCCDE9}"/>
              </a:ext>
            </a:extLst>
          </p:cNvPr>
          <p:cNvSpPr/>
          <p:nvPr/>
        </p:nvSpPr>
        <p:spPr>
          <a:xfrm>
            <a:off x="11755121" y="0"/>
            <a:ext cx="464798" cy="6858000"/>
          </a:xfrm>
          <a:prstGeom prst="rect">
            <a:avLst/>
          </a:prstGeom>
          <a:solidFill>
            <a:srgbClr val="FFDDFC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63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61F5-F376-29A8-38DE-0235250B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4A3A-C70E-AD8A-E496-C1791BAD9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275" y="1337481"/>
            <a:ext cx="10515600" cy="532262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>
                <a:solidFill>
                  <a:schemeClr val="accent5"/>
                </a:solidFill>
              </a:rPr>
              <a:t>Date, Time, Vehicle Type, Average Vehicle Time at Arrival, Booking Value, Ride Distance, Customer Rating have no significant impact on consumer ratings in this dataset (lack of correlation).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>
                <a:solidFill>
                  <a:schemeClr val="accent5"/>
                </a:solidFill>
              </a:rPr>
              <a:t>Future Work: Analyzing correlation between Customer Ratings and Pickup/Drop off locations.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4ADD54-3958-C7F4-F87A-A6690D9CC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23" y="2781750"/>
            <a:ext cx="4704704" cy="214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6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200</Words>
  <Application>Microsoft Office PowerPoint</Application>
  <PresentationFormat>Widescreen</PresentationFormat>
  <Paragraphs>34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Sans Serif Collection</vt:lpstr>
      <vt:lpstr>Office Theme</vt:lpstr>
      <vt:lpstr>Riding with Uber: Is There a Road to a Five Star Rating?</vt:lpstr>
      <vt:lpstr>Data</vt:lpstr>
      <vt:lpstr>Interesting Statistics</vt:lpstr>
      <vt:lpstr>PowerPoint Presentation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Gutierrez-Lopez, Charlize</dc:creator>
  <cp:lastModifiedBy>Gutierrez-Lopez, Charlize</cp:lastModifiedBy>
  <cp:revision>3</cp:revision>
  <dcterms:created xsi:type="dcterms:W3CDTF">2025-11-15T07:04:44Z</dcterms:created>
  <dcterms:modified xsi:type="dcterms:W3CDTF">2025-11-17T03:16:04Z</dcterms:modified>
</cp:coreProperties>
</file>